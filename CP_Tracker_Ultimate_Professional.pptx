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2011680"/>
            <a:ext cx="6858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4800" b="1">
                <a:solidFill>
                  <a:srgbClr val="0B2239"/>
                </a:solidFill>
                <a:latin typeface="Calibri"/>
              </a:rPr>
              <a:t>Competitive Programming
Progress Tracker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0" y="3931920"/>
            <a:ext cx="1371600" cy="54864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420624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595959"/>
                </a:solidFill>
                <a:latin typeface="Calibri"/>
              </a:rPr>
              <a:t>Anvith Shetty
</a:t>
            </a:r>
            <a:r>
              <a:rPr sz="1700" b="0">
                <a:solidFill>
                  <a:srgbClr val="8C8C8C"/>
                </a:solidFill>
                <a:latin typeface="Calibri"/>
              </a:rPr>
              <a:t>Core Java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0B2239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1672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Calibri"/>
              </a:rPr>
              <a:t>Competitive Programming Tracker  |  Core Java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  <a:r>
              <a:rPr sz="2200" b="1">
                <a:solidFill>
                  <a:srgbClr val="0B2239"/>
                </a:solidFill>
                <a:latin typeface="Calibri"/>
              </a:rPr>
              <a:t>Difficulty tracking</a:t>
            </a:r>
            <a:r>
              <a:rPr sz="2200" b="0">
                <a:solidFill>
                  <a:srgbClr val="595959"/>
                </a:solidFill>
                <a:latin typeface="Calibri"/>
              </a:rPr>
              <a:t> competitive programming progress across multiple platforms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  <a:r>
              <a:rPr sz="2200" b="1">
                <a:solidFill>
                  <a:srgbClr val="0B2239"/>
                </a:solidFill>
                <a:latin typeface="Calibri"/>
              </a:rPr>
              <a:t>No structured system</a:t>
            </a:r>
            <a:r>
              <a:rPr sz="2200" b="0">
                <a:solidFill>
                  <a:srgbClr val="595959"/>
                </a:solidFill>
                <a:latin typeface="Calibri"/>
              </a:rPr>
              <a:t> to maintain solved and unsolved problems logically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  <a:r>
              <a:rPr sz="2200" b="1">
                <a:solidFill>
                  <a:srgbClr val="0B2239"/>
                </a:solidFill>
                <a:latin typeface="Calibri"/>
              </a:rPr>
              <a:t>No analytics</a:t>
            </a:r>
            <a:r>
              <a:rPr sz="2200" b="0">
                <a:solidFill>
                  <a:srgbClr val="595959"/>
                </a:solidFill>
                <a:latin typeface="Calibri"/>
              </a:rPr>
              <a:t> available for accuracy evaluation and daily solving streaks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Need a </a:t>
            </a:r>
            <a:r>
              <a:rPr sz="2200" b="1">
                <a:solidFill>
                  <a:srgbClr val="0B2239"/>
                </a:solidFill>
                <a:latin typeface="Calibri"/>
              </a:rPr>
              <a:t>centralized solution</a:t>
            </a:r>
            <a:r>
              <a:rPr sz="2200" b="0">
                <a:solidFill>
                  <a:srgbClr val="595959"/>
                </a:solidFill>
                <a:latin typeface="Calibri"/>
              </a:rPr>
              <a:t> to smoothly manage all CP activities in one place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0B2239"/>
                </a:solidFill>
                <a:latin typeface="Calibri"/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1672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Calibri"/>
              </a:rPr>
              <a:t>Competitive Programming Tracker  |  Core Java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  <a:r>
              <a:rPr sz="2200" b="1">
                <a:solidFill>
                  <a:srgbClr val="0B2239"/>
                </a:solidFill>
                <a:latin typeface="Calibri"/>
              </a:rPr>
              <a:t>Track problems</a:t>
            </a:r>
            <a:r>
              <a:rPr sz="2200" b="0">
                <a:solidFill>
                  <a:srgbClr val="595959"/>
                </a:solidFill>
                <a:latin typeface="Calibri"/>
              </a:rPr>
              <a:t> and records efficiently utilizing standard CRUD operations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  <a:r>
              <a:rPr sz="2200" b="1">
                <a:solidFill>
                  <a:srgbClr val="0B2239"/>
                </a:solidFill>
                <a:latin typeface="Calibri"/>
              </a:rPr>
              <a:t>Monitor status</a:t>
            </a:r>
            <a:r>
              <a:rPr sz="2200" b="0">
                <a:solidFill>
                  <a:srgbClr val="595959"/>
                </a:solidFill>
                <a:latin typeface="Calibri"/>
              </a:rPr>
              <a:t> easily with dynamic categories (TODO, ATTEMPTED, SOLVED)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Automatically </a:t>
            </a:r>
            <a:r>
              <a:rPr sz="2200" b="1">
                <a:solidFill>
                  <a:srgbClr val="0B2239"/>
                </a:solidFill>
                <a:latin typeface="Calibri"/>
              </a:rPr>
              <a:t>calculate accuracy</a:t>
            </a:r>
            <a:r>
              <a:rPr sz="2200" b="0">
                <a:solidFill>
                  <a:srgbClr val="595959"/>
                </a:solidFill>
                <a:latin typeface="Calibri"/>
              </a:rPr>
              <a:t> metrics while monitoring solving </a:t>
            </a:r>
            <a:r>
              <a:rPr sz="2200" b="1">
                <a:solidFill>
                  <a:srgbClr val="0B2239"/>
                </a:solidFill>
                <a:latin typeface="Calibri"/>
              </a:rPr>
              <a:t>streaks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Add a functional </a:t>
            </a:r>
            <a:r>
              <a:rPr sz="2200" b="1">
                <a:solidFill>
                  <a:srgbClr val="0B2239"/>
                </a:solidFill>
                <a:latin typeface="Calibri"/>
              </a:rPr>
              <a:t>review feature</a:t>
            </a:r>
            <a:r>
              <a:rPr sz="2200" b="0">
                <a:solidFill>
                  <a:srgbClr val="595959"/>
                </a:solidFill>
                <a:latin typeface="Calibri"/>
              </a:rPr>
              <a:t> to frequently revisit challenging questions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Combine an intuitive </a:t>
            </a:r>
            <a:r>
              <a:rPr sz="2200" b="1">
                <a:solidFill>
                  <a:srgbClr val="0B2239"/>
                </a:solidFill>
                <a:latin typeface="Calibri"/>
              </a:rPr>
              <a:t>GUI</a:t>
            </a:r>
            <a:r>
              <a:rPr sz="2200" b="0">
                <a:solidFill>
                  <a:srgbClr val="595959"/>
                </a:solidFill>
                <a:latin typeface="Calibri"/>
              </a:rPr>
              <a:t> with completely persistent </a:t>
            </a:r>
            <a:r>
              <a:rPr sz="2200" b="1">
                <a:solidFill>
                  <a:srgbClr val="0B2239"/>
                </a:solidFill>
                <a:latin typeface="Calibri"/>
              </a:rPr>
              <a:t>Database integration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0B2239"/>
                </a:solidFill>
                <a:latin typeface="Calibri"/>
              </a:rPr>
              <a:t>System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1672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Calibri"/>
              </a:rPr>
              <a:t>Competitive Programming Tracker  |  Core Java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A self-contained </a:t>
            </a:r>
            <a:r>
              <a:rPr sz="2200" b="1">
                <a:solidFill>
                  <a:srgbClr val="0B2239"/>
                </a:solidFill>
                <a:latin typeface="Calibri"/>
              </a:rPr>
              <a:t>GUI-based application</a:t>
            </a:r>
            <a:r>
              <a:rPr sz="2200" b="0">
                <a:solidFill>
                  <a:srgbClr val="595959"/>
                </a:solidFill>
                <a:latin typeface="Calibri"/>
              </a:rPr>
              <a:t> natively crafted for desktop environments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Core </a:t>
            </a:r>
            <a:r>
              <a:rPr sz="2200" b="1">
                <a:solidFill>
                  <a:srgbClr val="0B2239"/>
                </a:solidFill>
                <a:latin typeface="Calibri"/>
              </a:rPr>
              <a:t>Features:</a:t>
            </a:r>
            <a:r>
              <a:rPr sz="2200" b="0">
                <a:solidFill>
                  <a:srgbClr val="595959"/>
                </a:solidFill>
                <a:latin typeface="Calibri"/>
              </a:rPr>
              <a:t> Add, View, Solve, Delete, Review algorithmic problem assets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Provides expansive text </a:t>
            </a:r>
            <a:r>
              <a:rPr sz="2200" b="1">
                <a:solidFill>
                  <a:srgbClr val="0B2239"/>
                </a:solidFill>
                <a:latin typeface="Calibri"/>
              </a:rPr>
              <a:t>Notes support</a:t>
            </a:r>
            <a:r>
              <a:rPr sz="2200" b="0">
                <a:solidFill>
                  <a:srgbClr val="595959"/>
                </a:solidFill>
                <a:latin typeface="Calibri"/>
              </a:rPr>
              <a:t> explicitly attached to internal queries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Runs entirely on a scalable local </a:t>
            </a:r>
            <a:r>
              <a:rPr sz="2200" b="1">
                <a:solidFill>
                  <a:srgbClr val="0B2239"/>
                </a:solidFill>
                <a:latin typeface="Calibri"/>
              </a:rPr>
              <a:t>MySQL database</a:t>
            </a:r>
            <a:r>
              <a:rPr sz="2200" b="0">
                <a:solidFill>
                  <a:srgbClr val="595959"/>
                </a:solidFill>
                <a:latin typeface="Calibri"/>
              </a:rPr>
              <a:t> firmly connected via </a:t>
            </a:r>
            <a:r>
              <a:rPr sz="2200" b="1">
                <a:solidFill>
                  <a:srgbClr val="0B2239"/>
                </a:solidFill>
                <a:latin typeface="Calibri"/>
              </a:rPr>
              <a:t>JDBC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0B2239"/>
                </a:solidFill>
                <a:latin typeface="Calibri"/>
              </a:rPr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1672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Calibri"/>
              </a:rPr>
              <a:t>Competitive Programming Tracker  |  Core Java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  <a:r>
              <a:rPr sz="2200" b="1">
                <a:solidFill>
                  <a:srgbClr val="0B2239"/>
                </a:solidFill>
                <a:latin typeface="Calibri"/>
              </a:rPr>
              <a:t>Java (Core Java)</a:t>
            </a:r>
            <a:r>
              <a:rPr sz="2200" b="0">
                <a:solidFill>
                  <a:srgbClr val="595959"/>
                </a:solidFill>
                <a:latin typeface="Calibri"/>
              </a:rPr>
              <a:t> — Establishes application logic and central algorithmic processing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  <a:r>
              <a:rPr sz="2200" b="1">
                <a:solidFill>
                  <a:srgbClr val="0B2239"/>
                </a:solidFill>
                <a:latin typeface="Calibri"/>
              </a:rPr>
              <a:t>JDBC</a:t>
            </a:r>
            <a:r>
              <a:rPr sz="2200" b="0">
                <a:solidFill>
                  <a:srgbClr val="595959"/>
                </a:solidFill>
                <a:latin typeface="Calibri"/>
              </a:rPr>
              <a:t> — Enables resilient and highly standardized database query connectivity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  <a:r>
              <a:rPr sz="2200" b="1">
                <a:solidFill>
                  <a:srgbClr val="0B2239"/>
                </a:solidFill>
                <a:latin typeface="Calibri"/>
              </a:rPr>
              <a:t>MySQL</a:t>
            </a:r>
            <a:r>
              <a:rPr sz="2200" b="0">
                <a:solidFill>
                  <a:srgbClr val="595959"/>
                </a:solidFill>
                <a:latin typeface="Calibri"/>
              </a:rPr>
              <a:t> — Guarantees scalable and persistent on-disk SQL relational storage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  <a:r>
              <a:rPr sz="2200" b="1">
                <a:solidFill>
                  <a:srgbClr val="0B2239"/>
                </a:solidFill>
                <a:latin typeface="Calibri"/>
              </a:rPr>
              <a:t>Swing (GUI)</a:t>
            </a:r>
            <a:r>
              <a:rPr sz="2200" b="0">
                <a:solidFill>
                  <a:srgbClr val="595959"/>
                </a:solidFill>
                <a:latin typeface="Calibri"/>
              </a:rPr>
              <a:t> — Supplies the foundational visual framework securing professional UI/UX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  <a:r>
              <a:rPr sz="2200" b="1">
                <a:solidFill>
                  <a:srgbClr val="0B2239"/>
                </a:solidFill>
                <a:latin typeface="Calibri"/>
              </a:rPr>
              <a:t>OOP Concepts</a:t>
            </a:r>
            <a:r>
              <a:rPr sz="2200" b="0">
                <a:solidFill>
                  <a:srgbClr val="595959"/>
                </a:solidFill>
                <a:latin typeface="Calibri"/>
              </a:rPr>
              <a:t> — Manifests strictly secure states using Encapsulation and Abstraction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  <a:r>
              <a:rPr sz="2200" b="1">
                <a:solidFill>
                  <a:srgbClr val="0B2239"/>
                </a:solidFill>
                <a:latin typeface="Calibri"/>
              </a:rPr>
              <a:t>Collections</a:t>
            </a:r>
            <a:r>
              <a:rPr sz="2200" b="0">
                <a:solidFill>
                  <a:srgbClr val="595959"/>
                </a:solidFill>
                <a:latin typeface="Calibri"/>
              </a:rPr>
              <a:t> — Exploits standard Java Lists and Sets to optimize runtime complexities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0B2239"/>
                </a:solidFill>
                <a:latin typeface="Calibri"/>
              </a:rPr>
              <a:t>System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1672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Calibri"/>
              </a:rPr>
              <a:t>Competitive Programming Tracker  |  Core Java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Strictly adheres to an isolated, multi-tiered </a:t>
            </a:r>
            <a:r>
              <a:rPr sz="2200" b="1">
                <a:solidFill>
                  <a:srgbClr val="0B2239"/>
                </a:solidFill>
                <a:latin typeface="Calibri"/>
              </a:rPr>
              <a:t>Layered architecture</a:t>
            </a:r>
            <a:r>
              <a:rPr sz="2200" b="0">
                <a:solidFill>
                  <a:srgbClr val="595959"/>
                </a:solidFill>
                <a:latin typeface="Calibri"/>
              </a:rPr>
              <a:t>: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UI Component → Service Logic → Data Access Object (DAO) → Database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Protects data integrity ensuring a unidirectional </a:t>
            </a:r>
            <a:r>
              <a:rPr sz="2200" b="1">
                <a:solidFill>
                  <a:srgbClr val="0B2239"/>
                </a:solidFill>
                <a:latin typeface="Calibri"/>
              </a:rPr>
              <a:t>Input → Process → Output flow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Prioritizes a completely distinct </a:t>
            </a:r>
            <a:r>
              <a:rPr sz="2200" b="1">
                <a:solidFill>
                  <a:srgbClr val="0B2239"/>
                </a:solidFill>
                <a:latin typeface="Calibri"/>
              </a:rPr>
              <a:t>Modular structure</a:t>
            </a:r>
            <a:r>
              <a:rPr sz="2200" b="0">
                <a:solidFill>
                  <a:srgbClr val="595959"/>
                </a:solidFill>
                <a:latin typeface="Calibri"/>
              </a:rPr>
              <a:t> maximizing agile maintainability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0B2239"/>
                </a:solidFill>
                <a:latin typeface="Calibri"/>
              </a:rPr>
              <a:t>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1672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Calibri"/>
              </a:rPr>
              <a:t>Competitive Programming Tracker  |  Core Java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Translates physical entities utilizing explicit runtime </a:t>
            </a:r>
            <a:r>
              <a:rPr sz="2200" b="1">
                <a:solidFill>
                  <a:srgbClr val="0B2239"/>
                </a:solidFill>
                <a:latin typeface="Calibri"/>
              </a:rPr>
              <a:t>Model classes</a:t>
            </a:r>
            <a:r>
              <a:rPr sz="2200" b="0">
                <a:solidFill>
                  <a:srgbClr val="595959"/>
                </a:solidFill>
                <a:latin typeface="Calibri"/>
              </a:rPr>
              <a:t> (User, Problem, Progress)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Standardizes structural operations implementing the secure relational </a:t>
            </a:r>
            <a:r>
              <a:rPr sz="2200" b="1">
                <a:solidFill>
                  <a:srgbClr val="0B2239"/>
                </a:solidFill>
                <a:latin typeface="Calibri"/>
              </a:rPr>
              <a:t>DAO pattern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Channels data mutations seamlessly via explicit, independent </a:t>
            </a:r>
            <a:r>
              <a:rPr sz="2200" b="1">
                <a:solidFill>
                  <a:srgbClr val="0B2239"/>
                </a:solidFill>
                <a:latin typeface="Calibri"/>
              </a:rPr>
              <a:t>Service layer logic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Automates temporal consistency powering intelligent comparative </a:t>
            </a:r>
            <a:r>
              <a:rPr sz="2200" b="1">
                <a:solidFill>
                  <a:srgbClr val="0B2239"/>
                </a:solidFill>
                <a:latin typeface="Calibri"/>
              </a:rPr>
              <a:t>Streak calculations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Deploys statistical algorithms deriving actionable quantitative </a:t>
            </a:r>
            <a:r>
              <a:rPr sz="2200" b="1">
                <a:solidFill>
                  <a:srgbClr val="0B2239"/>
                </a:solidFill>
                <a:latin typeface="Calibri"/>
              </a:rPr>
              <a:t>Accuracy calculation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0B2239"/>
                </a:solidFill>
                <a:latin typeface="Calibri"/>
              </a:rPr>
              <a:t>Demo (Screenshots)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1672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Calibri"/>
              </a:rPr>
              <a:t>Competitive Programming Tracker  |  Core Java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  <a:r>
              <a:rPr sz="2200" b="1">
                <a:solidFill>
                  <a:srgbClr val="0B2239"/>
                </a:solidFill>
                <a:latin typeface="Calibri"/>
              </a:rPr>
              <a:t>Add Problem screen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  <a:r>
              <a:rPr sz="2200" b="1">
                <a:solidFill>
                  <a:srgbClr val="0B2239"/>
                </a:solidFill>
                <a:latin typeface="Calibri"/>
              </a:rPr>
              <a:t>View Problems table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  <a:r>
              <a:rPr sz="2200" b="1">
                <a:solidFill>
                  <a:srgbClr val="0B2239"/>
                </a:solidFill>
                <a:latin typeface="Calibri"/>
              </a:rPr>
              <a:t>Progress dashboard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  <a:r>
              <a:rPr sz="2200" b="1">
                <a:solidFill>
                  <a:srgbClr val="0B2239"/>
                </a:solidFill>
                <a:latin typeface="Calibri"/>
              </a:rPr>
              <a:t>Review feature</a:t>
            </a:r>
            <a:r>
              <a:rPr sz="2200" b="0">
                <a:solidFill>
                  <a:srgbClr val="595959"/>
                </a:solidFill>
                <a:latin typeface="Calibri"/>
              </a:rPr>
              <a:t> interactions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3474720"/>
            <a:ext cx="3931920" cy="2377440"/>
          </a:xfrm>
          <a:prstGeom prst="rect">
            <a:avLst/>
          </a:prstGeom>
          <a:solidFill>
            <a:srgbClr val="F4F6F8"/>
          </a:solidFill>
          <a:ln w="1905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5CA9"/>
                </a:solidFill>
                <a:latin typeface="Calibri"/>
              </a:rPr>
              <a:t>🖼   Place Screenshot Here
(Add/View Problems)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3474720"/>
            <a:ext cx="3931920" cy="2377440"/>
          </a:xfrm>
          <a:prstGeom prst="rect">
            <a:avLst/>
          </a:prstGeom>
          <a:solidFill>
            <a:srgbClr val="F4F6F8"/>
          </a:solidFill>
          <a:ln w="1905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5CA9"/>
                </a:solidFill>
                <a:latin typeface="Calibri"/>
              </a:rPr>
              <a:t>📊   Place Screenshot Here
(Analytics Dashboard)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0B2239"/>
                </a:solidFill>
                <a:latin typeface="Calibri"/>
              </a:rP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1672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Calibri"/>
              </a:rPr>
              <a:t>Competitive Programming Tracker  |  Core Java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Integrate a partitioned </a:t>
            </a:r>
            <a:r>
              <a:rPr sz="2200" b="1">
                <a:solidFill>
                  <a:srgbClr val="0B2239"/>
                </a:solidFill>
                <a:latin typeface="Calibri"/>
              </a:rPr>
              <a:t>Multi-user login system</a:t>
            </a:r>
            <a:r>
              <a:rPr sz="2200" b="0">
                <a:solidFill>
                  <a:srgbClr val="595959"/>
                </a:solidFill>
                <a:latin typeface="Calibri"/>
              </a:rPr>
              <a:t> securely compartmentalizing platform metrics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Establish direct automated </a:t>
            </a:r>
            <a:r>
              <a:rPr sz="2200" b="1">
                <a:solidFill>
                  <a:srgbClr val="0B2239"/>
                </a:solidFill>
                <a:latin typeface="Calibri"/>
              </a:rPr>
              <a:t>API integration</a:t>
            </a:r>
            <a:r>
              <a:rPr sz="2200" b="0">
                <a:solidFill>
                  <a:srgbClr val="595959"/>
                </a:solidFill>
                <a:latin typeface="Calibri"/>
              </a:rPr>
              <a:t> linking native profiles with Codeforces &amp; LeetCode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Inject graphical </a:t>
            </a:r>
            <a:r>
              <a:rPr sz="2200" b="1">
                <a:solidFill>
                  <a:srgbClr val="0B2239"/>
                </a:solidFill>
                <a:latin typeface="Calibri"/>
              </a:rPr>
              <a:t>Advanced analytics</a:t>
            </a:r>
            <a:r>
              <a:rPr sz="2200" b="0">
                <a:solidFill>
                  <a:srgbClr val="595959"/>
                </a:solidFill>
                <a:latin typeface="Calibri"/>
              </a:rPr>
              <a:t> demonstrating explicit difficulty and timeline distributions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Engineer a chronologically automated </a:t>
            </a:r>
            <a:r>
              <a:rPr sz="2200" b="1">
                <a:solidFill>
                  <a:srgbClr val="0B2239"/>
                </a:solidFill>
                <a:latin typeface="Calibri"/>
              </a:rPr>
              <a:t>Reminder system</a:t>
            </a:r>
            <a:r>
              <a:rPr sz="2200" b="0">
                <a:solidFill>
                  <a:srgbClr val="595959"/>
                </a:solidFill>
                <a:latin typeface="Calibri"/>
              </a:rPr>
              <a:t> stimulating daily continuous engagement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Transition functional system capabilities translating mechanics perfectly towards a </a:t>
            </a:r>
            <a:r>
              <a:rPr sz="2200" b="1">
                <a:solidFill>
                  <a:srgbClr val="0B2239"/>
                </a:solidFill>
                <a:latin typeface="Calibri"/>
              </a:rPr>
              <a:t>Web version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0B2239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1672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Calibri"/>
              </a:rPr>
              <a:t>Competitive Programming Tracker  |  Core Java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Successfully delivered an integrated </a:t>
            </a:r>
            <a:r>
              <a:rPr sz="2200" b="1">
                <a:solidFill>
                  <a:srgbClr val="0B2239"/>
                </a:solidFill>
                <a:latin typeface="Calibri"/>
              </a:rPr>
              <a:t>Fully working GUI + DB system</a:t>
            </a:r>
            <a:r>
              <a:rPr sz="2200" b="0">
                <a:solidFill>
                  <a:srgbClr val="595959"/>
                </a:solidFill>
                <a:latin typeface="Calibri"/>
              </a:rPr>
              <a:t> built from scratch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Rigorously practically implemented explicit structural </a:t>
            </a:r>
            <a:r>
              <a:rPr sz="2200" b="1">
                <a:solidFill>
                  <a:srgbClr val="0B2239"/>
                </a:solidFill>
                <a:latin typeface="Calibri"/>
              </a:rPr>
              <a:t>OOP concepts</a:t>
            </a:r>
            <a:r>
              <a:rPr sz="2200" b="0">
                <a:solidFill>
                  <a:srgbClr val="595959"/>
                </a:solidFill>
                <a:latin typeface="Calibri"/>
              </a:rPr>
              <a:t> correctly in an application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Satisfied fundamental developer needs addressing a demonstrable </a:t>
            </a:r>
            <a:r>
              <a:rPr sz="2200" b="1">
                <a:solidFill>
                  <a:srgbClr val="0B2239"/>
                </a:solidFill>
                <a:latin typeface="Calibri"/>
              </a:rPr>
              <a:t>Real-world useful project</a:t>
            </a:r>
            <a:r>
              <a:rPr sz="2200" b="0">
                <a:solidFill>
                  <a:srgbClr val="595959"/>
                </a:solidFill>
                <a:latin typeface="Calibri"/>
              </a:rPr>
              <a:t> void</a:t>
            </a:r>
          </a:p>
          <a:p>
            <a:pPr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1400" b="0">
                <a:solidFill>
                  <a:srgbClr val="005CA9"/>
                </a:solidFill>
                <a:latin typeface="Calibri"/>
              </a:rPr>
              <a:t>◼  </a:t>
            </a:r>
            <a:r>
              <a:rPr sz="2200" b="0">
                <a:solidFill>
                  <a:srgbClr val="595959"/>
                </a:solidFill>
                <a:latin typeface="Calibri"/>
              </a:rPr>
              <a:t>Finalized programmatic frameworks allowing operations to proceed exceptionally </a:t>
            </a:r>
            <a:r>
              <a:rPr sz="2200" b="1">
                <a:solidFill>
                  <a:srgbClr val="0B2239"/>
                </a:solidFill>
                <a:latin typeface="Calibri"/>
              </a:rPr>
              <a:t>Scalable and extendable</a:t>
            </a:r>
            <a:r>
              <a:rPr sz="2200" b="0">
                <a:solidFill>
                  <a:srgbClr val="595959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